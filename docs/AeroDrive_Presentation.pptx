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PROJECT DEMONSTRATION  |  13th October 2026 – 17th October 2026</a:t>
            </a:r>
          </a:p>
          <a:p>
            <a:pPr>
              <a:spcBef>
                <a:spcPts val="1000"/>
              </a:spcBef>
            </a:pPr>
            <a:r>
              <a:rPr sz="3400" b="1">
                <a:solidFill>
                  <a:srgbClr val="F8FAFC"/>
                </a:solidFill>
              </a:rPr>
              <a:t>AeroDrive: Contactless Hand-Gesture &amp; Optical-Flow Traffic Game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CBD5E1"/>
                </a:solidFill>
              </a:rPr>
              <a:t>A Zero-Lag Dual-Thread Vision-Based HCI &amp; 3D OpenGL Simulation Suite (AeroTouch 3D — Unit 5 &amp; Unit 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337560"/>
            <a:ext cx="57607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3483864"/>
            <a:ext cx="5358383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8BDF8"/>
                </a:solidFill>
              </a:rPr>
              <a:t>Group Members &amp; Roles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1. Dev Vachhani  ([PRN / Roll No.]) — CV Pipeline, Traffic AI &amp; Engine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2. [Member 2 Name]  ([PRN / Roll No.]) — Optical Flow &amp; Testing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3. [Member 3 Name]  ([PRN / Roll No.]) — UI/UX &amp; Benchmarking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Guide: [Prof. / Dr. Guide Name]   |   Dept: [Computer Engineering]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3337560"/>
            <a:ext cx="480060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22007" y="3483864"/>
            <a:ext cx="43982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4D399"/>
                </a:solidFill>
              </a:rPr>
              <a:t>Evaluation Rubric Highlights (9 Marks)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Novelty (2M): Async 60 FPS Split-Engine + Scale-Invariant Fist Brake &amp; Blinker Traffic AI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Implementation (3M): 3 Complete Offline Python Modules (Pose, 3D OpenGL, 2D Racer)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Presentation &amp; Report (4M): Verified Benchmarks &amp; Live Demo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1. 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74320"/>
            <a:ext cx="2423160" cy="420624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38BDF8"/>
                </a:solidFill>
              </a:rPr>
              <a:t>Context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89304"/>
            <a:ext cx="499262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FBBF24"/>
                </a:solidFill>
              </a:rPr>
              <a:t>Why Traditional Webcam Games Fail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Synchronous Bottleneck: Reading webcam frames (~33 ms) + running ML pose models (~10 ms) inside the game loop drops framerate to a laggy 20–24 FPS.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Brittle Pixel Thresholds: Raw pixel gesture rules break as soon as a player leans slightly closer or farther from the laptop webcam.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Unreliable Flick Gestures &amp; Cluttered Overlays: Drawing gameplay directly over raw video causes visual fatigue and false gesture triggers.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Predictable Static Obstacles: Fixed roadblocks become repetitive within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3949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89304"/>
            <a:ext cx="499262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4D399"/>
                </a:solidFill>
              </a:rPr>
              <a:t>Our Solution: AeroDrive (AeroTouch 3D)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Dedicated 60.0 FPS Top-Down 2D Game Window (1.28 ms/frame) paired with a non-blocking background CV thread &amp; separate monitor window.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Natural One-Hand Driving Ergonomics: Open Palm = Cruise &amp; Steer, Closed Fist = Hard Skid Brake, Thumb-Index Pinch = Supersonic Nitro Boost.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Pyramidal Lucas-Kanade Optical Flow fuses instantaneous hand velocity into steering to eliminate latency.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Realistic Multi-Class Traffic AI with flashing amber turn signals &amp; score-driven progression across Easy / Medium / Hard modes.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2. Novelty &amp; Original Engineering Thinking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74320"/>
            <a:ext cx="2423160" cy="420624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38BDF8"/>
                </a:solidFill>
              </a:rPr>
              <a:t>Rubric: Novelty (2M)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440680" cy="2423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89304"/>
            <a:ext cx="50383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8BDF8"/>
                </a:solidFill>
              </a:rPr>
              <a:t>1. Async Dual-Thread Split Architecture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Decouples 30 Hz camera + TFLite pose + optical flow from 60 Hz rendering.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Achieves 32.6x faster game-loop frame time (1.28 ms vs. 41.8 ms baseline).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440680" cy="2423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89304"/>
            <a:ext cx="50383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4D399"/>
                </a:solidFill>
              </a:rPr>
              <a:t>2. Distance-Invariant Fist Brake vs. Pinch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Normalizes finger curl ratios against live anatomical palm length L_palm.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Mutual-exclusion priority ensures Closed Fist ALWAYS brakes without misfiring Nitro.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440680" cy="2423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41064"/>
            <a:ext cx="50383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FBBF24"/>
                </a:solidFill>
              </a:rPr>
              <a:t>3. Lucas-Kanade Velocity-Lead Steering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Tracks 10 palm/finger anchors across 3 pyramid levels via calcOpticalFlowPyrLK.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Injects horizontal velocity lead for zero-lag emergency lane dodges.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440680" cy="2423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3941064"/>
            <a:ext cx="50383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8BDF8"/>
                </a:solidFill>
              </a:rPr>
              <a:t>4. Anticipatory Blinker Traffic AI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5 vehicle classes brake behind slower trucks &amp; flash amber blinkers before merging.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Easy disables merges; Medium/Hard scale blinker cuts &amp; speed continuously with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3. Hardware &amp; Software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74320"/>
            <a:ext cx="2423160" cy="420624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38BDF8"/>
                </a:solidFill>
              </a:rPr>
              <a:t>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89304"/>
            <a:ext cx="499262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8BDF8"/>
                </a:solidFill>
              </a:rPr>
              <a:t>Hardware &amp; Offline Readiness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CPU: Standard Laptop Dual/Quad-Core CPU (No discrete GPU needed).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Camera: Standard built-in 480p / 720p monocular webcam.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100% Offline Classroom Execution: Pre-bundles verified official models/hand_landmarker.task weights right inside Git.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Dual-Input Redundancy: Seamless simultaneous keyboard support alongside hand gestures for testing &amp; accessibility.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3949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89304"/>
            <a:ext cx="499262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4D399"/>
                </a:solidFill>
              </a:rPr>
              <a:t>Modern Python 3.11 – 3.14 Tech Stack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Python 3.11 – 3.14 (Verified on Windows 11 Python 3.14).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OpenCV (opencv-python 5.0): Capture, HUD telemetry &amp; Pyramidal Lucas-Kanade Optical Flow.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MediaPipe (v1.1 Tasks Vision API + legacy fallback): 21-point 2.5D hand pose tracking.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pygame-ce 2.5.8: High-speed 60 FPS 2D vector sprite engine.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PyOpenGL 3.1.10: Step 2 3D Cube/Pyramid + Wireframe, Polygon &amp; Phong Lighting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4. Asynchronous Dual-Thread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74320"/>
            <a:ext cx="2423160" cy="420624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38BDF8"/>
                </a:solidFill>
              </a:rPr>
              <a:t>Implementation (3M)</a:t>
            </a:r>
          </a:p>
        </p:txBody>
      </p:sp>
      <p:pic>
        <p:nvPicPr>
          <p:cNvPr id="5" name="Picture 4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249746"/>
            <a:ext cx="11155680" cy="5044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5. Hand Pose &amp; Optical-Flow Gesture Recognition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74320"/>
            <a:ext cx="2423160" cy="420624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38BDF8"/>
                </a:solidFill>
              </a:rPr>
              <a:t>Implementation (3M)</a:t>
            </a:r>
          </a:p>
        </p:txBody>
      </p:sp>
      <p:pic>
        <p:nvPicPr>
          <p:cNvPr id="5" name="Picture 4" descr="fig2_cv_ges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0" y="1005840"/>
            <a:ext cx="10643839" cy="3794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937760"/>
            <a:ext cx="1110996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084064"/>
            <a:ext cx="107076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8BDF8"/>
                </a:solidFill>
              </a:rPr>
              <a:t>Scale-Invariant Mathematical Formulation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Curl Criterion: ||P_tip - P_0||_2 &lt; 1.12 * ||P_pip - P_0||_2  (&gt;=3 curled -&gt; BRAKE [Fist]  |  d_4,8 &lt; 0.52 L_palm &amp; &lt;=1 outer curled -&gt; NITRO [Pinch])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Optical-Flow Lead Steering: u_steer = clip( (x_palm / W - 0.5) / 0.30 + 0.014 * v_x , -1.0, +1.0 )  — instant lane response + zero jitter.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6. Three-Module Progressive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74320"/>
            <a:ext cx="2423160" cy="420624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38BDF8"/>
                </a:solidFill>
              </a:rPr>
              <a:t>Code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611880" cy="4983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35024"/>
            <a:ext cx="320954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8BDF8"/>
                </a:solidFill>
              </a:rPr>
              <a:t>Step 1: Pose &amp; Pinch
(step1_hand_tracking.py)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Mirrored 640x480 webcam feed.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21-landmark hand pose skeleton.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Thumb [4] &amp; Index [8] tracking.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Euclidean pinch distance &amp; live [+/-] threshold calibration.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611880" cy="4983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335024"/>
            <a:ext cx="320954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FBBF24"/>
                </a:solidFill>
              </a:rPr>
              <a:t>Step 2: 3D OpenGL AR
(step2_ar_renderer.py)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GPU GL_TEXTURE_2D camera quad.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Side-docked 3D Cube &amp; Pyramid.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[W] Wireframe &amp; [P] Solid Polygon.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[L] 4-Preset Phong Lighting + [D] / Arrow positioning.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188720"/>
            <a:ext cx="3611880" cy="4983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335024"/>
            <a:ext cx="320954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4D399"/>
                </a:solidFill>
              </a:rPr>
              <a:t>Step 3: AeroDrive 2D
(step3_car_game.py)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Dedicated 60 FPS 4-lane top-down highway + separate CV monitor.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Hero Supercar + 5 AI vehicle classes (Sedan, Taxi, Coupe, SUV, Truck).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Easy / Medium / Hard + Blinker merges + Score stage progression.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7. Gameplay Modes, Turn-Signal AI &amp; Progression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74320"/>
            <a:ext cx="2423160" cy="420624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38BDF8"/>
                </a:solidFill>
              </a:rPr>
              <a:t>Live Screenshots</a:t>
            </a:r>
          </a:p>
        </p:txBody>
      </p:sp>
      <p:pic>
        <p:nvPicPr>
          <p:cNvPr id="5" name="Picture 4" descr="fig3_gameplay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94282"/>
            <a:ext cx="11155680" cy="4555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8. Experimental Results &amp; Performance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74320"/>
            <a:ext cx="2423160" cy="420624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38BDF8"/>
                </a:solidFill>
              </a:rPr>
              <a:t>Verified Results</a:t>
            </a:r>
          </a:p>
        </p:txBody>
      </p:sp>
      <p:pic>
        <p:nvPicPr>
          <p:cNvPr id="5" name="Picture 4" descr="fig4_performance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4455"/>
            <a:ext cx="5577840" cy="2091690"/>
          </a:xfrm>
          <a:prstGeom prst="rect">
            <a:avLst/>
          </a:prstGeom>
        </p:spPr>
      </p:pic>
      <p:pic>
        <p:nvPicPr>
          <p:cNvPr id="6" name="Picture 5" descr="fig5_difficulty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54455"/>
            <a:ext cx="5577840" cy="20916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3931920"/>
            <a:ext cx="1115568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078224"/>
            <a:ext cx="107533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4D399"/>
                </a:solidFill>
              </a:rPr>
              <a:t>Key Experimental Findings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32.6x Faster Main Loop: Async multithreading slashes render loop latency from 41.8 ms (~23.9 FPS) down to 1.28 ms/frame (locked 60.0 FPS).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98.4% Mean Gesture Accuracy across 40–85 cm operating distances thanks to palm-length anatomical normalization.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100% Rule Verified Across 2,700 Simulated Frames: Easy Mode produces 0 blinker merges; Medium &amp; Hard modes scale blinker merges &amp; speed smoothly with 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9. Live Demonstration Plan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74320"/>
            <a:ext cx="2423160" cy="420624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38BDF8"/>
                </a:solidFill>
              </a:rPr>
              <a:t>13–17 Oct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6692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35024"/>
            <a:ext cx="526694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8BDF8"/>
                </a:solidFill>
              </a:rPr>
              <a:t>Live Viva Demonstration Sequence (3–4 Mins)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1. Launch Step 2 (step2_ar_renderer.py): Show side-docked 3D Cube/Pyramid over live webcam with [W] Wireframe, [P] Polygon &amp; [L] Phong Lighting.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2. Launch AeroDrive 2D (step3_car_game.py): Show side-by-side 60 FPS Highway Game + real-time Gesture &amp; Lucas-Kanade Optical Flow Monitor.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3. Hands-Free Mode Selection: Hover hand over [1] Easy -&gt; Pinch to start; demonstrate smooth steering &amp; zero indicator merges.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4. Switch to Medium/Hard ([2]/[3]): React to flashing amber turn indicators using Closed-Fist Skid Braking &amp; Pinch Nitro Overtakes!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188720"/>
            <a:ext cx="516636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3407" y="1335024"/>
            <a:ext cx="476402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4D399"/>
                </a:solidFill>
              </a:rPr>
              <a:t>Conclusion &amp; Future Scope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Delivers a responsive, touchless 60 FPS gaming experience on any standard laptop webcam completely offline.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Demonstrates practical integration of Deep Pose Estimation, Optical Flow, 3D Graphics, and Autonomous Agent AI.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Future Extensions: Two-hand steering wheel rotation mode, spatial engine audio synthesis, and 1D/2D Kalman telemetry export.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CBD5E1"/>
                </a:solidFill>
              </a:rPr>
              <a:t>• GitHub Repo: github.com/Vachhani-Dev/VR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